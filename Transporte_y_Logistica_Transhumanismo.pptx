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fbbcd674-6010-fa94-1499-acafb0217f00}">
          <p14:sldIdLst>
            <p14:sldId id="256"/>
            <p14:sldId id="257"/>
          </p14:sldIdLst>
        </p14:section>
        <p14:section name="Preguntas centrales" id="{63914371-bb7c-0130-66e9-f0d8193a5ad3}">
          <p14:sldIdLst>
            <p14:sldId id="258"/>
          </p14:sldIdLst>
        </p14:section>
        <p14:section name="Análisis" id="{38426df4-c8e0-fdf0-0385-58336b10c1f4}">
          <p14:sldIdLst>
            <p14:sldId id="259"/>
            <p14:sldId id="260"/>
            <p14:sldId id="261"/>
          </p14:sldIdLst>
        </p14:section>
        <p14:section name="Conclusión" id="{5438afa6-dde9-d4f6-91c5-9f06b1534489}">
          <p14:sldIdLst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97280"/>
            <a:ext cx="56692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56692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9728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Transporte y Logística ante el Transhumanismo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Impacto del Transhumanismo en las Profesiones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2900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Tecnologías y Retos de las Sociedades · Sección D04 · Tarea 05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84048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Moran Orozco Luis Norberto · Mejía Hernández Daniela Michelle · Flores Mercado Diego Román · Cortés Serrano Jesús Eduardo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46520" y="1234440"/>
            <a:ext cx="2286000" cy="22860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69164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¿Qué es el transporte y la logística?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Se encarga de la planificación, ejecución y supervisión del movimiento de mercancías, desde su punto de origen hasta su destino final.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1005840" cy="10058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25374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3383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Origen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2057400" y="2651760"/>
            <a:ext cx="594360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8" name="Shape 5"/>
          <p:cNvSpPr/>
          <p:nvPr/>
        </p:nvSpPr>
        <p:spPr>
          <a:xfrm>
            <a:off x="2880360" y="2286000"/>
            <a:ext cx="1005840" cy="10058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820" y="253746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514600" y="3383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Planificación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114800" y="2651760"/>
            <a:ext cx="594360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2" name="Shape 8"/>
          <p:cNvSpPr/>
          <p:nvPr/>
        </p:nvSpPr>
        <p:spPr>
          <a:xfrm>
            <a:off x="4937760" y="2286000"/>
            <a:ext cx="1005840" cy="10058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9220" y="253746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572000" y="3383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Transporte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6172200" y="2651760"/>
            <a:ext cx="594360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6" name="Shape 11"/>
          <p:cNvSpPr/>
          <p:nvPr/>
        </p:nvSpPr>
        <p:spPr>
          <a:xfrm>
            <a:off x="6995160" y="2286000"/>
            <a:ext cx="1005840" cy="10058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6620" y="2537460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629400" y="3383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Destino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Objetivo: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un proceso eficiente, seguro y rentable.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45720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Fuente: Gjuarez (2026), UCJC Madrid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Preguntas detonadoras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17043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1. Con vehículos autónomos y almacenes robotizados, ¿qué empleo sobrevive?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847088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961388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34440" y="1828800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Mantenimiento y seguridad: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electromecánicos y técnicos en prevención de riesgos.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2523744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2638044"/>
            <a:ext cx="228600" cy="228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34440" y="2505456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Automatización y robótica: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ingenieros en control, sensores y programación.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40080" y="320040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3314700"/>
            <a:ext cx="228600" cy="2286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34440" y="3182112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Software y datos: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mantener sistemas en la nube y Edge sin fallos.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40080" y="3877056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3991356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234440" y="3858768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Gestión: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supervisión, estrategia, calidad, contabilidad, nóminas y RR. HH.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4663440" y="1051560"/>
            <a:ext cx="4023360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18" name="Text 12"/>
          <p:cNvSpPr txBox="1"/>
          <p:nvPr/>
        </p:nvSpPr>
        <p:spPr>
          <a:xfrm>
            <a:off x="4846320" y="117043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2. ¿Quién asume la responsabilidad en un accidente sin conductor?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4846320" y="184708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0620" y="1961388"/>
            <a:ext cx="228600" cy="22860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440680" y="1828800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Fabricante: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responde si el vehículo o su software fallan.</a:t>
            </a:r>
            <a:endParaRPr lang="en-US" sz="1200" dirty="0"/>
          </a:p>
        </p:txBody>
      </p:sp>
      <p:sp>
        <p:nvSpPr>
          <p:cNvPr id="22" name="Shape 15"/>
          <p:cNvSpPr/>
          <p:nvPr/>
        </p:nvSpPr>
        <p:spPr>
          <a:xfrm>
            <a:off x="4846320" y="2523744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0620" y="2638044"/>
            <a:ext cx="228600" cy="22860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5440680" y="2505456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Conductor: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si ignora la alerta de tomar el control.</a:t>
            </a:r>
            <a:endParaRPr lang="en-US" sz="1200" dirty="0"/>
          </a:p>
        </p:txBody>
      </p:sp>
      <p:sp>
        <p:nvSpPr>
          <p:cNvPr id="25" name="Shape 17"/>
          <p:cNvSpPr/>
          <p:nvPr/>
        </p:nvSpPr>
        <p:spPr>
          <a:xfrm>
            <a:off x="4846320" y="320040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0620" y="3314700"/>
            <a:ext cx="228600" cy="228600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5440680" y="3182112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Tesla, 2019: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jurado ordenó pagar US$329 M por una muerte con Autopilot.</a:t>
            </a:r>
            <a:endParaRPr lang="en-US" sz="1200" dirty="0"/>
          </a:p>
        </p:txBody>
      </p:sp>
      <p:sp>
        <p:nvSpPr>
          <p:cNvPr id="28" name="Shape 19"/>
          <p:cNvSpPr/>
          <p:nvPr/>
        </p:nvSpPr>
        <p:spPr>
          <a:xfrm>
            <a:off x="4846320" y="3877056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60620" y="3991356"/>
            <a:ext cx="228600" cy="228600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5440680" y="3858768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Uber, 2018: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atropello mortal en Arizona; terminó en acuerdo con la familia.</a:t>
            </a:r>
            <a:endParaRPr lang="en-US" sz="1200" dirty="0"/>
          </a:p>
        </p:txBody>
      </p:sp>
      <p:sp>
        <p:nvSpPr>
          <p:cNvPr id="31" name="Text 21"/>
          <p:cNvSpPr txBox="1"/>
          <p:nvPr/>
        </p:nvSpPr>
        <p:spPr>
          <a:xfrm>
            <a:off x="457200" y="4709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Fuentes: InfoJobs; Computrabajo; William Mattar (2026); Marcari (2026); Jamali (2025); Cano (2018)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Tecnología real: sistemas WMS y TMS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023360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132588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49733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4630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WMS · Gestión de Almacenes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1488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1"/>
                </a:solidFill>
              </a:rPr>
              <a:t>Gestiona los flujos físicos dentro del almacén y los muelles.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83464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Mayor visibilidad de inventarios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Optimización de procesos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Menos tareas de bajo valor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663440" y="1143000"/>
            <a:ext cx="4023360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/>
        </p:spPr>
      </p:sp>
      <p:sp>
        <p:nvSpPr>
          <p:cNvPr id="10" name="Shape 7"/>
          <p:cNvSpPr/>
          <p:nvPr/>
        </p:nvSpPr>
        <p:spPr>
          <a:xfrm>
            <a:off x="4892040" y="132588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3490" y="1497330"/>
            <a:ext cx="342900" cy="3429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715000" y="14630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TMS · Gestión del Transporte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892040" y="21488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1"/>
                </a:solidFill>
              </a:rPr>
              <a:t>Consolida envíos, planifica rutas, asigna recursos y supervisa entregas.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4892040" y="283464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Menores costos de transporte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Mejor trazabilidad de envíos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Mayor seguridad en procesos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Integrados: más productividad y menos errores en toda la cadena de suministro.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45720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Fuente: Desnos (2026), Shiptify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Beneficio concreto: menos costos y errores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Reducción de costos operativos al optimizar tiempos y minimizar errores en inventarios y envíos.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1517904" cy="2377440"/>
          </a:xfrm>
          <a:prstGeom prst="roundRect">
            <a:avLst>
              <a:gd name="adj" fmla="val 7229"/>
            </a:avLst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2011680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70–90%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788920"/>
            <a:ext cx="12435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menos errores en preparación y despacho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135124" y="1737360"/>
            <a:ext cx="1517904" cy="2377440"/>
          </a:xfrm>
          <a:prstGeom prst="roundRect">
            <a:avLst>
              <a:gd name="adj" fmla="val 7229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180844" y="2011680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30–50%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2272284" y="2788920"/>
            <a:ext cx="12435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menos tiempos operativos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813048" y="1737360"/>
            <a:ext cx="1517904" cy="2377440"/>
          </a:xfrm>
          <a:prstGeom prst="roundRect">
            <a:avLst>
              <a:gd name="adj" fmla="val 7229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858768" y="2011680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25–60%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3950208" y="2788920"/>
            <a:ext cx="12435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más productividad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90972" y="1737360"/>
            <a:ext cx="1517904" cy="2377440"/>
          </a:xfrm>
          <a:prstGeom prst="roundRect">
            <a:avLst>
              <a:gd name="adj" fmla="val 7229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536692" y="2011680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20–40%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5628132" y="2788920"/>
            <a:ext cx="12435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optimización del esfuerzo humano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168896" y="1737360"/>
            <a:ext cx="1517904" cy="2377440"/>
          </a:xfrm>
          <a:prstGeom prst="roundRect">
            <a:avLst>
              <a:gd name="adj" fmla="val 7229"/>
            </a:avLst>
          </a:prstGeom>
          <a:solidFill>
            <a:schemeClr val="bg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214616" y="2011680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10–25%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7306056" y="2788920"/>
            <a:ext cx="12435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menos costos logísticos totales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Dilema ético: eficiencia vs. seguridad física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023360" cy="3337560"/>
          </a:xfrm>
          <a:prstGeom prst="roundRect">
            <a:avLst>
              <a:gd name="adj" fmla="val 3288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1325880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49733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48132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La presión del algoritmo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19456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WMS y TMS fijan tiempos de ruta y ritmos de preparación pensados para el software, no para las personas.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200400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2"/>
                </a:solidFill>
              </a:rPr>
              <a:t>En México, Estafeta, DHL y Grupo Traxion no usan vehículos autónomos: la presión del tiempo recae en el conductor.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84632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Consecuencias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846320" y="1691640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4910" y="1840230"/>
            <a:ext cx="297180" cy="2971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623560" y="1709928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Conductores que manejan fatigados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846320" y="2606040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4910" y="2754630"/>
            <a:ext cx="297180" cy="29718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623560" y="2624328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Exceso de los límites de velocidad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4846320" y="3520440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4910" y="3669030"/>
            <a:ext cx="297180" cy="29718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623560" y="3538728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Operarios que omiten protocolos de seguridad para cumplir la cuota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Postura del equipo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1051560"/>
            <a:ext cx="1097280" cy="10972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2331720"/>
            <a:ext cx="3840480" cy="1417320"/>
          </a:xfrm>
          <a:prstGeom prst="roundRect">
            <a:avLst>
              <a:gd name="adj" fmla="val 7742"/>
            </a:avLst>
          </a:prstGeom>
          <a:solidFill>
            <a:schemeClr val="accent4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31520" y="24688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Fortalece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9260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La eficiencia, la rentabilidad y la especialización técnica del sector logístico.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846320" y="2331720"/>
            <a:ext cx="3840480" cy="1417320"/>
          </a:xfrm>
          <a:prstGeom prst="roundRect">
            <a:avLst>
              <a:gd name="adj" fmla="val 7742"/>
            </a:avLst>
          </a:prstGeom>
          <a:solidFill>
            <a:schemeClr val="accent3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120640" y="24688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Amenaza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5120640" y="29260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La seguridad física, la autonomía y la estabilidad laboral del personal operativo.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i="1" dirty="0">
                <a:solidFill>
                  <a:schemeClr val="accent1"/>
                </a:solidFill>
              </a:rPr>
              <a:t>…si la optimización algorítmica se antepone a la ética y al bienestar humano.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Referencias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Cano, R. J. (2018, 20 marzo). Primer atropello mortal de un coche sin conductor. El País.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Desnos, A. (2026, 9 octubre). WMS y TMS: una combinación ganadora para la cadena de suministro. Shiptify.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Gjuarez. (2026, 14 septiembre). Transporte y Logística: una carrera con futuro, innovación y propósito. UCJC Madrid.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InfoJobs. (s. f.). Ofertas de trabajo: almacenes automatizados.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Jamali, L. (2025, 2 agosto). Condenan a Tesla a pagar más de US$200 millones por una falla del piloto automático. BBC News Mundo.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Marcari, D. (2026, 3 marzo). Who is Responsible for an Accident With a Self-driving Car? Marcari Russotto Spencer &amp; Balaban.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Computrabajo México. (s. f.). Trabajo de automatización y control en Guadalajara, Jalisco.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William Mattar Accident Lawyers. (2026, 21 septiembre). Responsabilidad en un accidente con un coche autónomo.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ogistica">
  <a:themeElements>
    <a:clrScheme name="Logistica">
      <a:dk1>
        <a:srgbClr val="1B2433"/>
      </a:dk1>
      <a:lt1>
        <a:srgbClr val="FFFFFF"/>
      </a:lt1>
      <a:dk2>
        <a:srgbClr val="14213D"/>
      </a:dk2>
      <a:lt2>
        <a:srgbClr val="EEF2F7"/>
      </a:lt2>
      <a:accent1>
        <a:srgbClr val="F5A623"/>
      </a:accent1>
      <a:accent2>
        <a:srgbClr val="2A6F97"/>
      </a:accent2>
      <a:accent3>
        <a:srgbClr val="D64933"/>
      </a:accent3>
      <a:accent4>
        <a:srgbClr val="3BA374"/>
      </a:accent4>
      <a:accent5>
        <a:srgbClr val="5C6B80"/>
      </a:accent5>
      <a:accent6>
        <a:srgbClr val="FCE7C0"/>
      </a:accent6>
      <a:hlink>
        <a:srgbClr val="2A6F97"/>
      </a:hlink>
      <a:folHlink>
        <a:srgbClr val="5C6B80"/>
      </a:folHlink>
    </a:clrScheme>
    <a:fontScheme name="Logistica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Transporte y Logística ante el Transhumanismo</dc:title>
  <dc:subject>PptxGenJS Presentation</dc:subject>
  <dc:creator>PptxGenJS</dc:creator>
  <cp:lastModifiedBy>PptxGenJS</cp:lastModifiedBy>
  <cp:revision>1</cp:revision>
  <dcterms:created xsi:type="dcterms:W3CDTF">2026-10-23T07:37:23Z</dcterms:created>
  <dcterms:modified xsi:type="dcterms:W3CDTF">2026-10-23T07:37:23Z</dcterms:modified>
</cp:coreProperties>
</file>
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0d484735-48da-d5ca-d510-05d71371ed60}">
          <p14:sldIdLst>
            <p14:sldId id="256"/>
            <p14:sldId id="257"/>
          </p14:sldIdLst>
        </p14:section>
        <p14:section name="Preguntas centrales" id="{5a23d49d-9064-d705-fe0d-339bb7f18f05}">
          <p14:sldIdLst>
            <p14:sldId id="258"/>
            <p14:sldId id="259"/>
            <p14:sldId id="260"/>
            <p14:sldId id="261"/>
          </p14:sldIdLst>
        </p14:section>
        <p14:section name="Análisis" id="{7a647f1b-3fca-9a17-7ad1-12838ca3eb67}">
          <p14:sldIdLst>
            <p14:sldId id="262"/>
            <p14:sldId id="263"/>
            <p14:sldId id="264"/>
          </p14:sldIdLst>
        </p14:section>
        <p14:section name="Conclusión" id="{4aebc8aa-a6ca-dc63-26b4-4b9a22d75425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56692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Transporte y Logística ante el Transhumanismo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Impacto del Transhumanismo en las Profesiones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290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Tecnologías y Retos de las Sociedades · Sección D04 · Tarea 05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404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Moran Orozco Luis Norberto · Mejía Hernández Daniela Michelle · Flores Mercado Diego Román · Cortés Serrano Jesús Eduardo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46520" y="1234440"/>
            <a:ext cx="2286000" cy="22860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6916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es el transporte y la logística?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Se encarga de la planificación, ejecución y supervisión del movimiento de mercancías, desde su punto de origen hasta su destino final.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1005840" cy="10058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5374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383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Origen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057400" y="2651760"/>
            <a:ext cx="5943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8" name="Shape 5"/>
          <p:cNvSpPr/>
          <p:nvPr/>
        </p:nvSpPr>
        <p:spPr>
          <a:xfrm>
            <a:off x="2880360" y="228600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820" y="253746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514600" y="3383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Planificación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114800" y="2651760"/>
            <a:ext cx="5943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2" name="Shape 8"/>
          <p:cNvSpPr/>
          <p:nvPr/>
        </p:nvSpPr>
        <p:spPr>
          <a:xfrm>
            <a:off x="4937760" y="2286000"/>
            <a:ext cx="1005840" cy="10058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9220" y="253746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72000" y="3383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Transporte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172200" y="2651760"/>
            <a:ext cx="594360" cy="274320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6" name="Shape 11"/>
          <p:cNvSpPr/>
          <p:nvPr/>
        </p:nvSpPr>
        <p:spPr>
          <a:xfrm>
            <a:off x="6995160" y="228600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253746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29400" y="3383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Destino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Objetivo: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 proceso eficiente, seguro y rentable.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Gjuarez (2026), UCJC Madrid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empleos sobreviven a la automatización?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41732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5887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Mantenimiento y seguridad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70992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Técnicos en prevención de riesgos (interacción hombre-máquina) y electromecánicos para almacenes automatizados.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14300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892040" y="14173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158877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6072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Automatización y robótica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760720" y="170992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Ingenieros en control, sensores e instrumentación; diseño, navegación y calibración de máquinas autónomas.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292608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85800" y="32004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337185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5448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Software y datos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554480" y="349300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Mantener el software desplegado y sin fallos, conectando la nube con los servidores Edge que controlan la maquinaria.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63440" y="292608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4892040" y="32004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490" y="337185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76072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Gestión y administración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760720" y="349300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Supervisión, estrategia y calidad; además de contabilidad, nóminas y recursos humanos.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Fuentes: InfoJobs (s. f.); Computrabajo México (s. f.)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¿Quién responde si no hay conductor?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15184" cy="338328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544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fabricante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Si el vehículo o su software fallan, el fabricante suele tener cierta responsabilidad. El jurista Bryant Walker Smith sostiene que los fabricantes responden por los daños.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264408" y="1143000"/>
            <a:ext cx="2615184" cy="338328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493008" y="13716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5544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93008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conductor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265176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En autos parcialmente autónomos, si el sistema alerta y el conductor no toma el control, puede ser responsable del accidente.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071616" y="1143000"/>
            <a:ext cx="2615184" cy="3383280"/>
          </a:xfrm>
          <a:prstGeom prst="roundRect">
            <a:avLst>
              <a:gd name="adj" fmla="val 4196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300216" y="13716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5448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00216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ley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300216" y="2651760"/>
            <a:ext cx="2194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La propuesta AV START (EE. UU.) llevaría las disputas a arbitraje privado. Hoy, muchos estados culpan a la parte negligente y a su aseguradora.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Fuentes: William Mattar (2026); Marcari &amp; Marcari (2026)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Caso 1: Tesla Autopilot (Florida, 2019)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 Model S atropelló a Naibel Benavides (22 años) en los Cayos de Florida; su novio, Dillon Angulo, quedó con lesiones de por vida.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El conductor perdió de vista el camino al caérsele el teléfono.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Acusación: Tesla no restringió Autopilot fuera de autopistas mientras afirmaba que conducía mejor que un humano.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Tesla culpó al conductor: iba con exceso de velocidad y el pie en el acelerador.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577840" y="1188720"/>
            <a:ext cx="3108960" cy="329184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760720" y="14173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US$329 M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194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de indemnización otorgada por el jurado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278892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US$129 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daños compensatorios</a:t>
            </a:r>
            <a:endParaRPr lang="en-US" sz="1400" dirty="0"/>
          </a:p>
          <a:p>
            <a:pPr algn="ctr" indent="0" marL="0">
              <a:buNone/>
            </a:pPr>
            <a:r>
              <a:rPr lang="en-US" sz="600" dirty="0">
                <a:solidFill>
                  <a:schemeClr val="bg1"/>
                </a:solidFill>
              </a:rPr>
              <a:t> 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US$200 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daños punitivos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Jamali (2025), BBC News Mundo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Caso 2: Uber autónomo (Tempe, Arizona, 2018)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329184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/>
        </p:spPr>
      </p:sp>
      <p:sp>
        <p:nvSpPr>
          <p:cNvPr id="4" name="Shape 2"/>
          <p:cNvSpPr/>
          <p:nvPr/>
        </p:nvSpPr>
        <p:spPr>
          <a:xfrm>
            <a:off x="1325880" y="1463040"/>
            <a:ext cx="1005840" cy="10058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340" y="17145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6974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Primer atropello mortal de un coche sin conductor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1188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Qué pasó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566160" y="15361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mujer de 49 años cruzó fuera del paso peatonal y fue arrollada por un vehículo de Uber en modo autónomo.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2331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El detalle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6791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Había una persona tras el volante, pero el auto circulaba sin conductor activo.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3474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Resultado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38221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hubo juicio oficial: Uber y la familia llegaron a un acuerdo.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Cano (2018), El País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Tecnología real: sistemas WMS y TMS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32588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49733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4630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WMS · Gestión de Almacenes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488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Gestiona los flujos físicos dentro del almacén y los muelles.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8346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Mayor visibilidad de inventarios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Optimización de procesos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Menos tareas de bajo valor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1143000"/>
            <a:ext cx="40233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4892040" y="132588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490" y="149733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15000" y="14630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TMS · Gestión del Transporte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892040" y="21488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Consolida envíos, planifica rutas, asigna recursos y supervisa entregas.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892040" y="28346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Menores costos de transporte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Mejor trazabilidad de envíos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Mayor seguridad en procesos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Integrados: más productividad y menos errores en toda la cadena de suministro.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Desnos (2026), Shiptify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Beneficio concreto: menos costos y errores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Reducción de costos operativos al optimizar tiempos y minimizar errores en inventarios y envíos.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1517904" cy="2377440"/>
          </a:xfrm>
          <a:prstGeom prst="roundRect">
            <a:avLst>
              <a:gd name="adj" fmla="val 7229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2011680"/>
            <a:ext cx="1426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70–90%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788920"/>
            <a:ext cx="12435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menos errores en preparación y despacho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35124" y="1737360"/>
            <a:ext cx="1517904" cy="237744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180844" y="2011680"/>
            <a:ext cx="1426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30–50%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272284" y="2788920"/>
            <a:ext cx="12435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menos tiempos operativos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1737360"/>
            <a:ext cx="1517904" cy="237744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858768" y="2011680"/>
            <a:ext cx="1426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25–60%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950208" y="2788920"/>
            <a:ext cx="12435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más productividad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90972" y="1737360"/>
            <a:ext cx="1517904" cy="237744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36692" y="2011680"/>
            <a:ext cx="1426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20–40%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628132" y="2788920"/>
            <a:ext cx="12435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optimización del esfuerzo humano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68896" y="1737360"/>
            <a:ext cx="1517904" cy="237744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14616" y="2011680"/>
            <a:ext cx="1426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10–25%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306056" y="2788920"/>
            <a:ext cx="12435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menos costos logísticos totales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Dilema ético: eficiencia vs. seguridad física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32588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49733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48132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 presión del algoritmo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9456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WMS y TMS fijan tiempos de ruta y ritmos de preparación pensados para el software, no para las personas.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20040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En México, Estafeta, DHL y Grupo Traxion no usan vehículos autónomos: la presión del tiempo recae en el conductor.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Consecuencias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846320" y="169164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910" y="184023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709928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Conductores que manejan fatigados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846320" y="260604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910" y="2754630"/>
            <a:ext cx="297180" cy="2971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623560" y="2624328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Exceso de los límites de velocidad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846320" y="352044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4910" y="3669030"/>
            <a:ext cx="297180" cy="2971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623560" y="3538728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Operarios que omiten protocolos de seguridad para cumplir la cuota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Postura del equipo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051560"/>
            <a:ext cx="1097280" cy="1097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2331720"/>
            <a:ext cx="3840480" cy="1417320"/>
          </a:xfrm>
          <a:prstGeom prst="roundRect">
            <a:avLst>
              <a:gd name="adj" fmla="val 7742"/>
            </a:avLst>
          </a:prstGeom>
          <a:solidFill>
            <a:schemeClr val="accent4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24688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Fortalece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9260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eficiencia, la rentabilidad y la especialización técnica del sector logístico.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846320" y="2331720"/>
            <a:ext cx="3840480" cy="1417320"/>
          </a:xfrm>
          <a:prstGeom prst="roundRect">
            <a:avLst>
              <a:gd name="adj" fmla="val 7742"/>
            </a:avLst>
          </a:prstGeom>
          <a:solidFill>
            <a:schemeClr val="accent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120640" y="24688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Amenaza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29260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seguridad física, la autonomía y la estabilidad laboral del personal operativo.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…si la optimización algorítmica se antepone a la ética y al bienestar humano.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Referencias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Cano, R. J. (2018, 20 marzo). Primer atropello mortal de un coche sin conductor. El País.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Desnos, A. (2026, 9 octubre). WMS y TMS: una combinación ganadora para la cadena de suministro. Shiptify.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Gjuarez. (2026, 14 septiembre). Transporte y Logística: una carrera con futuro, innovación y propósito. UCJC Madrid.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InfoJobs. (s. f.). Ofertas de trabajo: almacenes automatizados.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Jamali, L. (2025, 2 agosto). Condenan a Tesla a pagar más de US$200 millones por una falla del piloto automático. BBC News Mundo.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Marcari, D. (2026, 3 marzo). Who is Responsible for an Accident With a Self-driving Car? Marcari Russotto Spencer &amp; Balaban.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Computrabajo México. (s. f.). Trabajo de automatización y control en Guadalajara, Jalisco.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William Mattar Accident Lawyers. (2026, 21 septiembre). Responsabilidad en un accidente con un coche autónomo.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gistica">
  <a:themeElements>
    <a:clrScheme name="Logistica">
      <a:dk1>
        <a:srgbClr val="1B2433"/>
      </a:dk1>
      <a:lt1>
        <a:srgbClr val="FFFFFF"/>
      </a:lt1>
      <a:dk2>
        <a:srgbClr val="14213D"/>
      </a:dk2>
      <a:lt2>
        <a:srgbClr val="EEF2F7"/>
      </a:lt2>
      <a:accent1>
        <a:srgbClr val="F5A623"/>
      </a:accent1>
      <a:accent2>
        <a:srgbClr val="2A6F97"/>
      </a:accent2>
      <a:accent3>
        <a:srgbClr val="D64933"/>
      </a:accent3>
      <a:accent4>
        <a:srgbClr val="3BA374"/>
      </a:accent4>
      <a:accent5>
        <a:srgbClr val="5C6B80"/>
      </a:accent5>
      <a:accent6>
        <a:srgbClr val="FCE7C0"/>
      </a:accent6>
      <a:hlink>
        <a:srgbClr val="2A6F97"/>
      </a:hlink>
      <a:folHlink>
        <a:srgbClr val="5C6B80"/>
      </a:folHlink>
    </a:clrScheme>
    <a:fontScheme name="Logistic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Transporte y Logística ante el Transhumanismo</dc:title>
  <dc:subject>PptxGenJS Presentation</dc:subject>
  <dc:creator>PptxGenJS</dc:creator>
  <cp:lastModifiedBy>PptxGenJS</cp:lastModifiedBy>
  <cp:revision>1</cp:revision>
  <dcterms:created xsi:type="dcterms:W3CDTF">2026-10-23T07:35:08Z</dcterms:created>
  <dcterms:modified xsi:type="dcterms:W3CDTF">2026-10-23T07:35:08Z</dcterms:modified>
</cp:coreProperties>
</file>